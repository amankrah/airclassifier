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441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ProteinProcessIO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i="1"/>
            </a:pPr>
            <a:r>
              <a:t>A GPU-Accelerated Digital Twin for Multi-Stage Dry Air Classification of Plant Proteins</a:t>
            </a:r>
          </a:p>
          <a:p>
            <a:pPr algn="ctr">
              <a:spcAft>
                <a:spcPts val="400"/>
              </a:spcAft>
              <a:defRPr sz="1800" i="1"/>
            </a:pPr>
            <a:r>
              <a:t>High-Fidelity Multiphysics Simulation | NVIDIA Warp GPU | Interactive Desktop App</a:t>
            </a:r>
          </a:p>
          <a:p>
            <a:pPr algn="ctr">
              <a:spcAft>
                <a:spcPts val="400"/>
              </a:spcAft>
              <a:defRPr sz="1800" i="1"/>
            </a:pPr>
            <a:r>
              <a:t>From Thermal Pretreatment to Protein Separation — End-to-End Process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Introduction — What is ProteinProcessIO?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Physics-based digital twin for the complete dry fractionation pipeline: RF Thermal Pretreatment, Pin Milling, Air Classification.</a:t>
            </a:r>
          </a:p>
          <a:p>
            <a:pPr>
              <a:spcAft>
                <a:spcPts val="800"/>
              </a:spcAft>
              <a:defRPr sz="1600"/>
            </a:pPr>
            <a:r>
              <a:t>Interactive desktop application with real-time 3D visualization.</a:t>
            </a:r>
          </a:p>
          <a:p>
            <a:pPr>
              <a:spcAft>
                <a:spcPts val="800"/>
              </a:spcAft>
              <a:defRPr sz="1600"/>
            </a:pPr>
            <a:r>
              <a:t>Enables design, simulate, optimize, and validate industrial classification systems in software before physical prototypes.</a:t>
            </a:r>
          </a:p>
          <a:p>
            <a:pPr>
              <a:spcAft>
                <a:spcPts val="800"/>
              </a:spcAft>
              <a:defRPr sz="1600"/>
            </a:pPr>
            <a:r>
              <a:t>Why it matters: Plant-based protein demand is growing; dry fractionation is the most sustainable extraction (no water, no chemicals). ProteinProcessIO replaces expensive trial-and-error with computer-aided engineering.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Problem — Challenges in Dry Protein Fractionation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Complex, coupled physics — particle separation depends on aerodynamics, PSD, material properties, and geometry interacting simultaneously.</a:t>
            </a:r>
          </a:p>
          <a:p>
            <a:pPr>
              <a:spcAft>
                <a:spcPts val="800"/>
              </a:spcAft>
              <a:defRPr sz="1600"/>
            </a:pPr>
            <a:r>
              <a:t>No integrated simulation tools — engineers rely on spreadsheets, correlations, or single-component CFD that miss cross-stage effects.</a:t>
            </a:r>
          </a:p>
          <a:p>
            <a:pPr>
              <a:spcAft>
                <a:spcPts val="800"/>
              </a:spcAft>
              <a:defRPr sz="1600"/>
            </a:pPr>
            <a:r>
              <a:t>Expensive physical prototyping — each pilot trial costs thousands; iterating is slow.</a:t>
            </a:r>
          </a:p>
          <a:p>
            <a:pPr>
              <a:spcAft>
                <a:spcPts val="800"/>
              </a:spcAft>
              <a:defRPr sz="1600"/>
            </a:pPr>
            <a:r>
              <a:t>Multi-stage coupling — pretreatment affects milling, which affects PSD, which determines classification. Optimizing one stage in isolation is suboptimal.</a:t>
            </a:r>
          </a:p>
          <a:p>
            <a:pPr>
              <a:spcAft>
                <a:spcPts val="800"/>
              </a:spcAft>
              <a:defRPr sz="1600"/>
            </a:pPr>
            <a:r>
              <a:t>Competing objectives — protein purity vs. yield; thermal treatment for flavor vs. protein denaturation risk.</a:t>
            </a:r>
          </a:p>
          <a:p>
            <a:pPr>
              <a:spcAft>
                <a:spcPts val="800"/>
              </a:spcAft>
              <a:defRPr sz="1600"/>
            </a:pPr>
            <a:r>
              <a:t>The gap: No software combines parametric geometry + multiphysics + GPU + multi-objective optimization for food powder classification.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Objective, Research Questions &amp;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Objective: Develop a GPU-accelerated, physics-based digital twin for computer-aided design and optimization of multi-stage dry air classification — from thermal pretreatment through milling to protein–starch separation.</a:t>
            </a:r>
          </a:p>
          <a:p>
            <a:pPr>
              <a:spcAft>
                <a:spcPts val="800"/>
              </a:spcAft>
              <a:defRPr sz="1600"/>
            </a:pPr>
            <a:r>
              <a:t>Research questions: (1) Can coupled multiphysics (RF + particle dynamics + fluid) predict real equipment when calibrated with sensor data? (2) Can GPU (NVIDIA Warp) make 3D simulation fast enough for interactive exploration? (3) Can multi-objective optimization (Derringer–Suich) identify optimal conditions for yield, purity, energy, and quality?</a:t>
            </a:r>
          </a:p>
          <a:p>
            <a:pPr>
              <a:spcAft>
                <a:spcPts val="800"/>
              </a:spcAft>
              <a:defRPr sz="1600"/>
            </a:pPr>
            <a:r>
              <a:t>Hypothesis: A physics-based digital twin calibrated against PLC sensor data will predict classification performance within engineering accuracy (&lt;15% error), with GPU enabling interactive runs (&lt;5 min per full simulation).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Methods Overview — Digital Twin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Parametric 3D geometry (40+ parts) → Multiphysics simulation (GPU-accelerated) → Calibration with PLC sensor data.</a:t>
            </a:r>
          </a:p>
          <a:p>
            <a:pPr>
              <a:spcAft>
                <a:spcPts val="800"/>
              </a:spcAft>
              <a:defRPr sz="1600"/>
            </a:pPr>
            <a:r>
              <a:t>Outputs feed: Interactive desktop GUI ← Multi-objective optimization ← Validated digital twin.</a:t>
            </a:r>
          </a:p>
          <a:p>
            <a:pPr>
              <a:spcAft>
                <a:spcPts val="800"/>
              </a:spcAft>
              <a:defRPr sz="1600"/>
            </a:pPr>
            <a:r>
              <a:t>Why physics-based over ML: Lower data requirement; reliable extrapolation; interpretable; supports new materials and scale-up; design exploration; regulatory trust.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Methods — Three-Stage Coupled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Stage 1 — RF Pretreatment (GP-15): Laplace (E-field), heat equation (T), diffusion (M), dielectric properties, PLC logic, belt advection. 9-step coupling per timestep.</a:t>
            </a:r>
          </a:p>
          <a:p>
            <a:pPr>
              <a:spcAft>
                <a:spcPts val="800"/>
              </a:spcAft>
              <a:defRPr sz="1600"/>
            </a:pPr>
            <a:r>
              <a:t>Stage 2 — Pin Milling: Impact detection, breakage model (selection + breakage function), screen passage, population balance.</a:t>
            </a:r>
          </a:p>
          <a:p>
            <a:pPr>
              <a:spcAft>
                <a:spcPts val="800"/>
              </a:spcAft>
              <a:defRPr sz="1600"/>
            </a:pPr>
            <a:r>
              <a:t>Stage 3 — Air Classification: Zone-based Lagrangian tracking — Venturi eductor, zigzag classifier, wheel classifier (300–5000 g), 3-stage cyclones, bag filter. Drag: Stokes, Schiller–Naumann, Haider–Levenspiel.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Methods — Calibration with Real Hardware (GP-15)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Strategy: Match PLC sensors (temperature, RF current, belt speed, moisture) and temp strips to simulation under same operating conditions; tune oscillator efficiency, contact resistance, convection.</a:t>
            </a:r>
          </a:p>
          <a:p>
            <a:pPr>
              <a:spcAft>
                <a:spcPts val="800"/>
              </a:spcAft>
              <a:defRPr sz="1600"/>
            </a:pPr>
            <a:r>
              <a:t>GP-15 Run#2 validation: 90 kg yellow pea, 35 mm bed, 0.2 m/min, electrode gap 75→94 mm. Outfeed 68–82°C, moisture loss 1.3 pp, LOX inactivation 24.2 min above 65°C, specific energy 0.042 kWh/kg.</a:t>
            </a:r>
          </a:p>
          <a:p>
            <a:pPr>
              <a:spcAft>
                <a:spcPts val="800"/>
              </a:spcAft>
              <a:defRPr sz="1600"/>
            </a:pPr>
            <a:r>
              <a:t>Calibration store: Empirical curves and tuned parameters saved for reuse across operating conditions.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Calibration Innovations — GP-15 Digital Twin (Technical Note)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94415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20039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Detail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Four-parameter calibration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k_c, k_evap, r_gap, k_disp via differential evolution + L-BFGS-B on full PLC tim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Electrode gap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Run#2 blind: 93.0 mm sim vs 94.1 mm PLC — 1.2% error; validates EM + control cha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Energy partition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99.2% sensible heating, ~0.8% latent; seed coat suppresses evaporation at sub-10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MRH edge regime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Anode current ~1.70 A near threshold; proportional gap drift correctly predicted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Sensor-comparable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75th percentile outfeed T for PLC/strip comparison; P75 vs mean vs max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GPU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57,600 cells; ~3 s/eval; calibration 926 evals in ~46 min; 60× speedup with arra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Methods — Python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GUI: PySide6 (Qt6) + PyVistaQt — 3D viewport, mode switching (Classification / Pretreatment / Milling), cinematic camera, live KPI dashboards.</a:t>
            </a:r>
          </a:p>
          <a:p>
            <a:pPr>
              <a:spcAft>
                <a:spcPts val="800"/>
              </a:spcAft>
              <a:defRPr sz="1600"/>
            </a:pPr>
            <a:r>
              <a:t>Visualization: PyVista (VTK) — 40+ parametric meshes, real-time particles, physics-driven animations.</a:t>
            </a:r>
          </a:p>
          <a:p>
            <a:pPr>
              <a:spcAft>
                <a:spcPts val="800"/>
              </a:spcAft>
              <a:defRPr sz="1600"/>
            </a:pPr>
            <a:r>
              <a:t>Simulation: NumPy, SciPy, NVIDIA Warp — coupled solvers, Lagrangian tracking, zone-based classification, SPH air flow.</a:t>
            </a:r>
          </a:p>
          <a:p>
            <a:pPr>
              <a:spcAft>
                <a:spcPts val="800"/>
              </a:spcAft>
              <a:defRPr sz="1600"/>
            </a:pPr>
            <a:r>
              <a:t>GPU: NVIDIA Warp (JIT CUDA) — 10+ kernels, persistent GPU memory, batched launch, single sync.</a:t>
            </a:r>
          </a:p>
          <a:p>
            <a:pPr>
              <a:spcAft>
                <a:spcPts val="800"/>
              </a:spcAft>
              <a:defRPr sz="1600"/>
            </a:pPr>
            <a:r>
              <a:t>Data: Pandas, Matplotlib, PyYAML — CSV/JSON/VTK export, publication plots. Packaging: PyInstaller for standalone executable.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Methods — NVIDIA Warp GPU Acceleration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Warp: Python framework; @wp.kernel functions JIT-compiled to CUDA; vec3, mat33, Mesh, HashGrid; automatic CPU/CUDA fallback.</a:t>
            </a:r>
          </a:p>
          <a:p>
            <a:pPr>
              <a:spcAft>
                <a:spcPts val="800"/>
              </a:spcAft>
              <a:defRPr sz="1600"/>
            </a:pPr>
            <a:r>
              <a:t>Kernels per timestep (batched, single sync): RF field, thermal, moisture, dielectric, transport, particle (drag, collisions, zone tracking).</a:t>
            </a:r>
          </a:p>
          <a:p>
            <a:pPr>
              <a:spcAft>
                <a:spcPts val="800"/>
              </a:spcAft>
              <a:defRPr sz="1600"/>
            </a:pPr>
            <a:r>
              <a:t>Strategy: Persistent GPU arrays, batched launch, one wp.synchronize() per step, kernel cache. Advantage vs raw CUDA: pure Python syntax, fast iteration, NumPy/SciPy interop, maintainable by non-GPU specialists.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Methods — Multi-Objective Optimization (Derringer–Suich)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Pretreatment: 5 objectives — thermal treatment (65–82°C), LOX kill (≥4 min above 65°C), protein preservation (peak &lt;71°C vicilin), moisture retention (&lt;2 pp loss), energy (&lt;0.15 kWh/kg). Overall desirability = geometric mean; scaled 0–10.</a:t>
            </a:r>
          </a:p>
          <a:p>
            <a:pPr>
              <a:spcAft>
                <a:spcPts val="800"/>
              </a:spcAft>
              <a:defRPr sz="1600"/>
            </a:pPr>
            <a:r>
              <a:t>Material-specific profiles: Yellow pea (7S &lt;71°C), faba bean (11S &lt;90°C), red lentil (&lt;75°C).</a:t>
            </a:r>
          </a:p>
          <a:p>
            <a:pPr>
              <a:spcAft>
                <a:spcPts val="800"/>
              </a:spcAft>
              <a:defRPr sz="1600"/>
            </a:pPr>
            <a:r>
              <a:t>Classification: Design variables — wheel RPM, cyclone diameters, air flow. Objectives — maximize yield and purity, minimize energy; constraints on efficiency and starch purity.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Methods — Integrated Environmental &amp;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/>
            </a:pPr>
            <a:r>
              <a:t>End-to-end: Raw seeds → RF Pretreatment → Pin Milling → Air Classification. Energy per stage tracked; zero water, zero chemical waste.</a:t>
            </a:r>
          </a:p>
          <a:p>
            <a:pPr>
              <a:spcAft>
                <a:spcPts val="600"/>
              </a:spcAft>
              <a:defRPr sz="1500"/>
            </a:pPr>
            <a:r>
              <a:t>Environmental: Energy per kg, carbon from energy source; economic: capex from parametric geometry, energy cost per kg, yield (protein vs starch), throughput for capacity planning.</a:t>
            </a:r>
          </a:p>
          <a:p>
            <a:pPr>
              <a:spcAft>
                <a:spcPts val="600"/>
              </a:spcAft>
              <a:defRPr sz="1500"/>
            </a:pPr>
            <a:r>
              <a:t>Dry vs wet: Dry ~0.05–0.10 kWh/kg, 0 L water/kg, 50–65% purity; wet ~0.3–0.5 kWh/kg, 5–10 L water/kg, 80–90% purity. Digital twin enables per-stage accounting and Pareto yield–purity curves.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Methods — Desktop Application (PyInstaller)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Standalone executable; three-mode interface (Classification, Pretreatment, Milling); real-time 3D viewport (~60 FPS).</a:t>
            </a:r>
          </a:p>
          <a:p>
            <a:pPr>
              <a:spcAft>
                <a:spcPts val="800"/>
              </a:spcAft>
              <a:defRPr sz="1600"/>
            </a:pPr>
            <a:r>
              <a:t>Control panel: Material, feed rate, wheel RPM, air flow; live KPIs (efficiency, yield, purity, power); export CSV/VTK.</a:t>
            </a:r>
          </a:p>
          <a:p>
            <a:pPr>
              <a:spcAft>
                <a:spcPts val="800"/>
              </a:spcAft>
              <a:defRPr sz="1600"/>
            </a:pPr>
            <a:r>
              <a:t>Physics-driven animations (blower, damper, wheel, belt); cinematic camera (orbit, showcase, flythrough); assembly configurator; live PSD and efficiency curves.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Results — Pretreatment Validation (GP-15 Run#2)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94415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20039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Achieved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Outlet 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65–82°C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68–82°C (PLC + strips)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LOX inactivation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≥4 min above 65°C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24.2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Protein preservation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Max T &lt; 84°C (legumin)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Legumin intact (11S)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Moisture 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&lt;2 pp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1.3 pp (11.8%→10.5%)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Specific 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&lt;0.15 kWh/kg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0.042 kWh/kg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Results — Classification &amp; Parametric Geometry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/>
            </a:pPr>
            <a:r>
              <a:t>Classification (simulated): Cut size ~25 µm @ 3000 rpm; protein yield ~30%, purity ~55%; starch purity ~70%; separation efficiency ~45%.</a:t>
            </a:r>
          </a:p>
          <a:p>
            <a:pPr>
              <a:spcAft>
                <a:spcPts val="600"/>
              </a:spcAft>
              <a:defRPr sz="1500"/>
            </a:pPr>
            <a:r>
              <a:t>Parametric geometry: 40+ industrial components, zero hardcoded dimensions; pilot (50 kg/h) to production (2000+ kg/h); dual mesh/SDF for rendering and GPU physics.</a:t>
            </a:r>
          </a:p>
          <a:p>
            <a:pPr>
              <a:spcAft>
                <a:spcPts val="600"/>
              </a:spcAft>
              <a:defRPr sz="1500"/>
            </a:pPr>
            <a:r>
              <a:t>GPU: CUDA/CPU auto-detection, persistent memory, batched kernels, &lt;1 ms CPU overhead per step.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Innovations &amp; Breakthroughs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First physics-based digital twin for full dry fractionation (pretreatment + milling + classification) in one coupled simulation.</a:t>
            </a:r>
          </a:p>
          <a:p>
            <a:pPr>
              <a:spcAft>
                <a:spcPts val="800"/>
              </a:spcAft>
              <a:defRPr sz="1600"/>
            </a:pPr>
            <a:r>
              <a:t>Whole-seed RF thermal conditioning model: series-capacitor voltage division, Lagrangian tracers; whole seeds show minimal drying (1–2% vs 3–4% for flour).</a:t>
            </a:r>
          </a:p>
          <a:p>
            <a:pPr>
              <a:spcAft>
                <a:spcPts val="800"/>
              </a:spcAft>
              <a:defRPr sz="1600"/>
            </a:pPr>
            <a:r>
              <a:t>GPU-accelerated multiphysics in pure Python: 10+ Warp kernels (EM, thermal, moisture, dielectric, particles, advection); near-native CUDA with NumPy/SciPy interop.</a:t>
            </a:r>
          </a:p>
          <a:p>
            <a:pPr>
              <a:spcAft>
                <a:spcPts val="800"/>
              </a:spcAft>
              <a:defRPr sz="1600"/>
            </a:pPr>
            <a:r>
              <a:t>Parametric geometry framework: 40+ components from design equations; dual mesh + SDF; automatic scaling.</a:t>
            </a:r>
          </a:p>
          <a:p>
            <a:pPr>
              <a:spcAft>
                <a:spcPts val="800"/>
              </a:spcAft>
              <a:defRPr sz="1600"/>
            </a:pPr>
            <a:r>
              <a:t>Multi-objective Desirability (Derringer–Suich); material-specific profiles; interactive desktop with real-time 3D and physics-driven animations.</a:t>
            </a:r>
          </a:p>
          <a:p>
            <a:pPr>
              <a:spcAft>
                <a:spcPts val="800"/>
              </a:spcAft>
              <a:defRPr sz="1600"/>
            </a:pPr>
            <a:r>
              <a:t>Calibrated against real GP-15 with PLC data; calibration store for reuse. Comprehensive technical documentation (geometry, multiphysics, Warp, pretreatment guide).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Summary &amp; Next Steps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94415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20039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RF Pretreatment (GP-15)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Functional — calibrating against Run#2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Hammer Mill (Milling)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 development — geometry and physics in place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Air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Functional — zone-based physics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GUI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Functional — 3-mode interface, 3D viewport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Framework implemented — expanding to full pipeline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/>
            </a:pPr>
            <a:r>
              <a:t>Complete milling module — breakage mechanics and screen classification.</a:t>
            </a:r>
          </a:p>
          <a:p>
            <a:pPr>
              <a:spcAft>
                <a:spcPts val="600"/>
              </a:spcAft>
              <a:defRPr sz="1500"/>
            </a:pPr>
            <a:r>
              <a:t>Full pipeline coupling — end-to-end from seeds to separated protein.</a:t>
            </a:r>
          </a:p>
          <a:p>
            <a:pPr>
              <a:spcAft>
                <a:spcPts val="600"/>
              </a:spcAft>
              <a:defRPr sz="1500"/>
            </a:pPr>
            <a:r>
              <a:t>Extended calibration — more experimental runs for validation.</a:t>
            </a:r>
          </a:p>
          <a:p>
            <a:pPr>
              <a:spcAft>
                <a:spcPts val="600"/>
              </a:spcAft>
              <a:defRPr sz="1500"/>
            </a:pPr>
            <a:r>
              <a:t>Web documentation portal — installation, user manual, API.</a:t>
            </a:r>
          </a:p>
          <a:p>
            <a:pPr>
              <a:spcAft>
                <a:spcPts val="600"/>
              </a:spcAft>
              <a:defRPr sz="1500"/>
            </a:pPr>
            <a:r>
              <a:t>Industrial partner trials — validate at production scale.</a:t>
            </a:r>
          </a:p>
          <a:p>
            <a:pPr>
              <a:spcAft>
                <a:spcPts val="600"/>
              </a:spcAft>
              <a:defRPr sz="1500"/>
            </a:pPr>
            <a:r>
              <a:t>Additional materials — oat, chickpea, lentil varieties.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441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ProteinProcessIO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i="1"/>
            </a:pPr>
            <a:r>
              <a:t>Accelerating the future of sustainable plant protein processing through physics-based digital twin technology.</a:t>
            </a:r>
          </a:p>
          <a:p>
            <a:pPr algn="ctr">
              <a:spcAft>
                <a:spcPts val="400"/>
              </a:spcAft>
              <a:defRPr sz="1800" i="1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